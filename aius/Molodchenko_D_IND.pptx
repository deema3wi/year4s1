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idel.edu.ng/focelibrary/books/Continuous%20Delivery%20Reliable%20Software%20Releases%20through%20Build,%20Test,%20and%20Deployment%20Automation%20by%20Jez%20Humble,%20David%20Farley%20(z-lib.org).pdf" TargetMode="External"/><Relationship Id="rId2" Type="http://schemas.openxmlformats.org/officeDocument/2006/relationships/hyperlink" Target="https://www.digitalocean.com/community/tutorials/how-to-secure-nginx-with-let-s-encrypt-on-ubuntu-20-0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nd.classuni.stor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8D7D1E-1407-4D5B-9C80-E70D99362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6612" y="762552"/>
            <a:ext cx="4439500" cy="521433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FD1BE-E333-402D-A2AF-8E2D7570F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6612" y="762552"/>
            <a:ext cx="4439500" cy="5214332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06066" y="658175"/>
            <a:ext cx="4439500" cy="5214332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86050" y="1186940"/>
            <a:ext cx="3921172" cy="3131805"/>
          </a:xfrm>
        </p:spPr>
        <p:txBody>
          <a:bodyPr>
            <a:normAutofit/>
          </a:bodyPr>
          <a:lstStyle/>
          <a:p>
            <a:r>
              <a:rPr lang="ru-RU" sz="4300" dirty="0">
                <a:solidFill>
                  <a:schemeClr val="bg1"/>
                </a:solidFill>
              </a:rPr>
              <a:t>Допомога ШІ в автоматизації конфігурації веб хоста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483289"/>
            <a:ext cx="3162300" cy="1041747"/>
          </a:xfrm>
        </p:spPr>
        <p:txBody>
          <a:bodyPr>
            <a:normAutofit/>
          </a:bodyPr>
          <a:lstStyle/>
          <a:p>
            <a:r>
              <a:rPr lang="uk-UA" sz="1700">
                <a:solidFill>
                  <a:schemeClr val="bg1"/>
                </a:solidFill>
              </a:rPr>
              <a:t>Підготував: Молодченко Дмитро</a:t>
            </a:r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91072" y="252951"/>
            <a:ext cx="622210" cy="82961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EF7D4A3-132F-4989-B22B-25948794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91072" y="252951"/>
            <a:ext cx="622210" cy="82961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6217" y="4410821"/>
            <a:ext cx="310807" cy="414409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4EEEB0-E565-42CB-8299-2454D31F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6217" y="4410821"/>
            <a:ext cx="310807" cy="41440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606" y="1187311"/>
            <a:ext cx="3817164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975" y="1178924"/>
            <a:ext cx="3817164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840" y="1130846"/>
            <a:ext cx="3779606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280" y="1424181"/>
            <a:ext cx="1016653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1876" y="629793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1876" y="629793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49521" y="5188771"/>
            <a:ext cx="807591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91619"/>
            <a:ext cx="3679050" cy="4042196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Мета автоматизації конфігурації веб хоста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/>
            </a:pPr>
            <a:r>
              <a:rPr lang="uk-UA" sz="1900">
                <a:solidFill>
                  <a:schemeClr val="bg1"/>
                </a:solidFill>
              </a:rPr>
              <a:t>Програміст хоче вивчати веб‑розробку та розгортати власні проєкти без купівлі платного хостингу.</a:t>
            </a:r>
          </a:p>
          <a:p>
            <a:pPr>
              <a:lnSpc>
                <a:spcPct val="90000"/>
              </a:lnSpc>
              <a:defRPr sz="2000"/>
            </a:pPr>
            <a:r>
              <a:rPr lang="uk-UA" sz="1900">
                <a:solidFill>
                  <a:schemeClr val="bg1"/>
                </a:solidFill>
              </a:rPr>
              <a:t>На початку створюється багато невеликих сайтів та </a:t>
            </a:r>
            <a:r>
              <a:rPr lang="en-US" sz="1900">
                <a:solidFill>
                  <a:schemeClr val="bg1"/>
                </a:solidFill>
              </a:rPr>
              <a:t>API.</a:t>
            </a:r>
          </a:p>
          <a:p>
            <a:pPr>
              <a:lnSpc>
                <a:spcPct val="90000"/>
              </a:lnSpc>
              <a:defRPr sz="2000"/>
            </a:pPr>
            <a:r>
              <a:rPr lang="uk-UA" sz="1900">
                <a:solidFill>
                  <a:schemeClr val="bg1"/>
                </a:solidFill>
              </a:rPr>
              <a:t>Автоматизація прибирає рутину: створення директорій, </a:t>
            </a:r>
            <a:r>
              <a:rPr lang="en-US" sz="1900">
                <a:solidFill>
                  <a:schemeClr val="bg1"/>
                </a:solidFill>
              </a:rPr>
              <a:t>nginx‑</a:t>
            </a:r>
            <a:r>
              <a:rPr lang="uk-UA" sz="1900">
                <a:solidFill>
                  <a:schemeClr val="bg1"/>
                </a:solidFill>
              </a:rPr>
              <a:t>конфігів та </a:t>
            </a:r>
            <a:r>
              <a:rPr lang="en-US" sz="1900">
                <a:solidFill>
                  <a:schemeClr val="bg1"/>
                </a:solidFill>
              </a:rPr>
              <a:t>SSL‑</a:t>
            </a:r>
            <a:r>
              <a:rPr lang="uk-UA" sz="1900">
                <a:solidFill>
                  <a:schemeClr val="bg1"/>
                </a:solidFill>
              </a:rPr>
              <a:t>сертифікатів для кожного ресурсу.</a:t>
            </a:r>
          </a:p>
          <a:p>
            <a:pPr>
              <a:lnSpc>
                <a:spcPct val="90000"/>
              </a:lnSpc>
              <a:defRPr sz="2000"/>
            </a:pPr>
            <a:r>
              <a:rPr lang="uk-UA" sz="1900">
                <a:solidFill>
                  <a:schemeClr val="bg1"/>
                </a:solidFill>
              </a:rPr>
              <a:t>Це дозволяє зосередитися на написанні коду, а не на ручному налаштуванні сервера.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Розбір промпта для ШІ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/>
            </a:pPr>
            <a:r>
              <a:rPr lang="uk-UA" sz="2000" dirty="0">
                <a:solidFill>
                  <a:schemeClr val="bg1"/>
                </a:solidFill>
              </a:rPr>
              <a:t>ТИ: експерт з автоматизації та </a:t>
            </a:r>
            <a:r>
              <a:rPr lang="en-US" sz="2000" dirty="0">
                <a:solidFill>
                  <a:schemeClr val="bg1"/>
                </a:solidFill>
              </a:rPr>
              <a:t>DevOps </a:t>
            </a:r>
            <a:r>
              <a:rPr lang="uk-UA" sz="2000" dirty="0">
                <a:solidFill>
                  <a:schemeClr val="bg1"/>
                </a:solidFill>
              </a:rPr>
              <a:t>-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uk-UA" sz="2000" dirty="0">
                <a:solidFill>
                  <a:schemeClr val="bg1"/>
                </a:solidFill>
              </a:rPr>
              <a:t>визначає роль і стиль відповіді ШІ.</a:t>
            </a:r>
          </a:p>
          <a:p>
            <a:pPr>
              <a:lnSpc>
                <a:spcPct val="90000"/>
              </a:lnSpc>
              <a:defRPr sz="2000"/>
            </a:pPr>
            <a:r>
              <a:rPr lang="uk-UA" sz="2000" dirty="0">
                <a:solidFill>
                  <a:schemeClr val="bg1"/>
                </a:solidFill>
              </a:rPr>
              <a:t>КОНТЕКСТ: компанія відкриває новий проєкт і суміжні сервіси - описує середовище.</a:t>
            </a:r>
          </a:p>
          <a:p>
            <a:pPr>
              <a:lnSpc>
                <a:spcPct val="90000"/>
              </a:lnSpc>
              <a:defRPr sz="2000"/>
            </a:pPr>
            <a:r>
              <a:rPr lang="uk-UA" sz="2000" dirty="0">
                <a:solidFill>
                  <a:schemeClr val="bg1"/>
                </a:solidFill>
              </a:rPr>
              <a:t>ЗАВДАННЯ: написати </a:t>
            </a:r>
            <a:r>
              <a:rPr lang="en-US" sz="2000" dirty="0">
                <a:solidFill>
                  <a:schemeClr val="bg1"/>
                </a:solidFill>
              </a:rPr>
              <a:t>shell‑</a:t>
            </a:r>
            <a:r>
              <a:rPr lang="uk-UA" sz="2000" dirty="0">
                <a:solidFill>
                  <a:schemeClr val="bg1"/>
                </a:solidFill>
              </a:rPr>
              <a:t>скрипт для додавання конфігу нового сайту з </a:t>
            </a:r>
            <a:r>
              <a:rPr lang="en-US" sz="2000" dirty="0">
                <a:solidFill>
                  <a:schemeClr val="bg1"/>
                </a:solidFill>
              </a:rPr>
              <a:t>nginx </a:t>
            </a:r>
            <a:r>
              <a:rPr lang="uk-UA" sz="2000" dirty="0">
                <a:solidFill>
                  <a:schemeClr val="bg1"/>
                </a:solidFill>
              </a:rPr>
              <a:t>і </a:t>
            </a:r>
            <a:r>
              <a:rPr lang="en-US" sz="2000" dirty="0" err="1">
                <a:solidFill>
                  <a:schemeClr val="bg1"/>
                </a:solidFill>
              </a:rPr>
              <a:t>certbot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  <a:defRPr sz="2000"/>
            </a:pPr>
            <a:r>
              <a:rPr lang="uk-UA" sz="2000" dirty="0">
                <a:solidFill>
                  <a:schemeClr val="bg1"/>
                </a:solidFill>
              </a:rPr>
              <a:t>ФОРМАТ: скрипт приймає домен, ім’я папки сайту та </a:t>
            </a:r>
            <a:r>
              <a:rPr lang="en-US" sz="2000" dirty="0">
                <a:solidFill>
                  <a:schemeClr val="bg1"/>
                </a:solidFill>
              </a:rPr>
              <a:t>email, </a:t>
            </a:r>
            <a:r>
              <a:rPr lang="uk-UA" sz="2000" dirty="0">
                <a:solidFill>
                  <a:schemeClr val="bg1"/>
                </a:solidFill>
              </a:rPr>
              <a:t>щоб його можна було одразу виконати.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06178" y="70488"/>
            <a:ext cx="2626396" cy="3501861"/>
            <a:chOff x="4690043" y="291695"/>
            <a:chExt cx="3055711" cy="305571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292" y="3240578"/>
            <a:ext cx="2472968" cy="3297290"/>
            <a:chOff x="4690043" y="291695"/>
            <a:chExt cx="3055711" cy="305571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9665" y="30573"/>
            <a:ext cx="2612325" cy="34831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119" y="1091857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3" descr="7efa8a1d-df59-462f-8514-ec9c9e0cbd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952" y="906000"/>
            <a:ext cx="3656622" cy="47536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319" y="3195231"/>
            <a:ext cx="2461258" cy="328167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oval with white lines&#10;&#10;AI-generated content may be incorrect.">
            <a:extLst>
              <a:ext uri="{FF2B5EF4-FFF2-40B4-BE49-F238E27FC236}">
                <a16:creationId xmlns:a16="http://schemas.microsoft.com/office/drawing/2014/main" id="{31FF10BD-A45C-D84F-1585-6CC4C9CE5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05" y="3904608"/>
            <a:ext cx="1556685" cy="1895767"/>
          </a:xfrm>
          <a:prstGeom prst="rect">
            <a:avLst/>
          </a:prstGeom>
        </p:spPr>
      </p:pic>
      <p:grpSp>
        <p:nvGrpSpPr>
          <p:cNvPr id="29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98183" y="3139252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857952" y="1958550"/>
            <a:ext cx="3731078" cy="3810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У панелі Namecheap додаємо CNAME‑запис для піддомену ind.classuni.store.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Поле Host містить значення ind, а Target вказує на основний домен classuni.store.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Це дозволяє спрямувати трафік піддомену на домашній сервер із запущеним nginx.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2909" y="1057625"/>
            <a:ext cx="3731078" cy="14034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dirty="0" err="1">
                <a:solidFill>
                  <a:schemeClr val="bg1"/>
                </a:solidFill>
              </a:rPr>
              <a:t>Створення</a:t>
            </a:r>
            <a:r>
              <a:rPr lang="en-US" sz="3100" dirty="0">
                <a:solidFill>
                  <a:schemeClr val="bg1"/>
                </a:solidFill>
              </a:rPr>
              <a:t> DNS‑</a:t>
            </a:r>
            <a:r>
              <a:rPr lang="en-US" sz="3100" dirty="0" err="1">
                <a:solidFill>
                  <a:schemeClr val="bg1"/>
                </a:solidFill>
              </a:rPr>
              <a:t>запису</a:t>
            </a:r>
            <a:r>
              <a:rPr lang="en-US" sz="3100" dirty="0">
                <a:solidFill>
                  <a:schemeClr val="bg1"/>
                </a:solidFill>
              </a:rPr>
              <a:t> в Namecheap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c44de7bf-39bb-458b-85bd-0cde433d5d6f.png"/>
          <p:cNvPicPr>
            <a:picLocks noChangeAspect="1"/>
          </p:cNvPicPr>
          <p:nvPr/>
        </p:nvPicPr>
        <p:blipFill>
          <a:blip r:embed="rId2"/>
          <a:srcRect l="9773" r="35364" b="-1"/>
          <a:stretch>
            <a:fillRect/>
          </a:stretch>
        </p:blipFill>
        <p:spPr>
          <a:xfrm>
            <a:off x="1883784" y="3146456"/>
            <a:ext cx="2726006" cy="3217333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89C6B508-0B2C-4D80-99F6-BC8C9C693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9133" y="805742"/>
            <a:ext cx="2735827" cy="3193211"/>
            <a:chOff x="1674895" y="1345036"/>
            <a:chExt cx="5428610" cy="4210939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A54034F-F9B1-4048-9AEF-C7AB99053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583F029-E06B-49B5-9779-2E8CEFD77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486" y="685805"/>
            <a:ext cx="2718710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438" y="859808"/>
            <a:ext cx="2657397" cy="2878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Запуск скрипта та аналіз виводу</a:t>
            </a:r>
          </a:p>
        </p:txBody>
      </p:sp>
      <p:grpSp>
        <p:nvGrpSpPr>
          <p:cNvPr id="58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17004"/>
            <a:ext cx="1027573" cy="508993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2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6806" y="2445529"/>
            <a:ext cx="637026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7" name="Graphic 4">
            <a:extLst>
              <a:ext uri="{FF2B5EF4-FFF2-40B4-BE49-F238E27FC236}">
                <a16:creationId xmlns:a16="http://schemas.microsoft.com/office/drawing/2014/main" id="{DDFA5A3F-B050-4826-ACB4-F634DD12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6806" y="2445529"/>
            <a:ext cx="637026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45D7489-248E-4EB2-A887-30A9C396E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B6BF832-C29A-4992-8772-6B33118C5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E06C84D-D026-40FC-A1FB-0482450B6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2D9620B-AA48-430C-BACC-01BF1B128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C7842E4-3E00-4846-B285-345F6B324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120E203-7898-4AE9-A9E5-F5C364415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6A5C8C3-E77D-410A-8D95-0B15B8E61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E9CE1FB-B266-47D2-A0AC-79D1DDBAA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8862FCB-5370-44C9-803F-017FF893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1EC218E-7E2A-4304-96EA-1A7AA046E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6904051-0B1B-4340-8A1F-FC345A500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8D8B68CD-1F5B-4E19-A474-4290A7386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219F1BA-F2AD-4C0B-B881-AF7702BFA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929052" y="1130846"/>
            <a:ext cx="36599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Скрипт запускається з параметрами: домен, ім’я папки сайту та email для Let’s Encrypt.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У виводі видно створення веб‑каталогу, генерування nginx‑конфігу та перевірку nginx -t.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certbot отримує та розгортає сертифікат для ind.classuni.store і вмикає HTTPS з редіректом.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1040837"/>
            <a:ext cx="3566211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1029607"/>
            <a:ext cx="3566211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934855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877492"/>
            <a:ext cx="3022599" cy="3215373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bg1"/>
                </a:solidFill>
              </a:rPr>
              <a:t>Допомога ШІ у вирішенні помилок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457812"/>
            <a:ext cx="685923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4946663"/>
            <a:ext cx="239955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uk-UA" sz="2000">
                <a:solidFill>
                  <a:schemeClr val="bg1"/>
                </a:solidFill>
              </a:rPr>
              <a:t>Пояснення помилок конфігурації </a:t>
            </a:r>
            <a:r>
              <a:rPr lang="en-US" sz="2000">
                <a:solidFill>
                  <a:schemeClr val="bg1"/>
                </a:solidFill>
              </a:rPr>
              <a:t>nginx </a:t>
            </a:r>
            <a:r>
              <a:rPr lang="uk-UA" sz="2000">
                <a:solidFill>
                  <a:schemeClr val="bg1"/>
                </a:solidFill>
              </a:rPr>
              <a:t>та </a:t>
            </a:r>
            <a:r>
              <a:rPr lang="en-US" sz="2000">
                <a:solidFill>
                  <a:schemeClr val="bg1"/>
                </a:solidFill>
              </a:rPr>
              <a:t>certbot </a:t>
            </a:r>
            <a:r>
              <a:rPr lang="uk-UA" sz="2000">
                <a:solidFill>
                  <a:schemeClr val="bg1"/>
                </a:solidFill>
              </a:rPr>
              <a:t>на основі логу або скріншоту.</a:t>
            </a:r>
          </a:p>
          <a:p>
            <a:pPr>
              <a:defRPr sz="2000"/>
            </a:pPr>
            <a:r>
              <a:rPr lang="uk-UA" sz="2000">
                <a:solidFill>
                  <a:schemeClr val="bg1"/>
                </a:solidFill>
              </a:rPr>
              <a:t>Підказки щодо правильних шляхів до директорій, прав доступу, команд </a:t>
            </a:r>
            <a:r>
              <a:rPr lang="en-US" sz="2000">
                <a:solidFill>
                  <a:schemeClr val="bg1"/>
                </a:solidFill>
              </a:rPr>
              <a:t>apt </a:t>
            </a:r>
            <a:r>
              <a:rPr lang="uk-UA" sz="2000">
                <a:solidFill>
                  <a:schemeClr val="bg1"/>
                </a:solidFill>
              </a:rPr>
              <a:t>і </a:t>
            </a:r>
            <a:r>
              <a:rPr lang="en-US" sz="2000">
                <a:solidFill>
                  <a:schemeClr val="bg1"/>
                </a:solidFill>
              </a:rPr>
              <a:t>systemctl.</a:t>
            </a:r>
          </a:p>
          <a:p>
            <a:pPr>
              <a:defRPr sz="2000"/>
            </a:pPr>
            <a:r>
              <a:rPr lang="uk-UA" sz="2000">
                <a:solidFill>
                  <a:schemeClr val="bg1"/>
                </a:solidFill>
              </a:rPr>
              <a:t>Рефакторинг скрипта: додавання перевірок, захист від перезапису файлів, кращі повідомлення про помилки.</a:t>
            </a:r>
          </a:p>
          <a:p>
            <a:pPr>
              <a:defRPr sz="2000"/>
            </a:pPr>
            <a:r>
              <a:rPr lang="uk-UA" sz="2000">
                <a:solidFill>
                  <a:schemeClr val="bg1"/>
                </a:solidFill>
              </a:rPr>
              <a:t>Адаптація скрипта під інші дистрибутиви </a:t>
            </a:r>
            <a:r>
              <a:rPr lang="en-US" sz="2000">
                <a:solidFill>
                  <a:schemeClr val="bg1"/>
                </a:solidFill>
              </a:rPr>
              <a:t>Linux </a:t>
            </a:r>
            <a:r>
              <a:rPr lang="uk-UA" sz="2000">
                <a:solidFill>
                  <a:schemeClr val="bg1"/>
                </a:solidFill>
              </a:rPr>
              <a:t>або іншу структуру каталогів.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61394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8385" y="1109243"/>
            <a:ext cx="3632032" cy="4842710"/>
            <a:chOff x="1881974" y="1174396"/>
            <a:chExt cx="5290997" cy="529099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202" y="1095407"/>
            <a:ext cx="3566211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563" y="568517"/>
            <a:ext cx="4620753" cy="886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Результуюча сторінка у браузері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 descr="c88cc948-d0df-4055-a1f2-3911b38a5d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807" y="2794224"/>
            <a:ext cx="2413000" cy="1357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6151" y="1820369"/>
            <a:ext cx="39128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Після виконання скрипта за адресою ind.classuni.store відкривається базова сторінка.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Вона підтверджує, що сайт обслуговується nginx і коренем є /var/www/ind-ai-usage.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Далі цю сторінку можна замінити будь‑яким навчальним або тестовим веб‑проєктом.</a:t>
            </a:r>
          </a:p>
        </p:txBody>
      </p:sp>
      <p:grpSp>
        <p:nvGrpSpPr>
          <p:cNvPr id="21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7588" y="396117"/>
            <a:ext cx="3912879" cy="1158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>
                <a:solidFill>
                  <a:schemeClr val="bg1"/>
                </a:solidFill>
              </a:rPr>
              <a:t>Демонстрація веб‑сайту‑презентації від ШІ</a:t>
            </a:r>
          </a:p>
        </p:txBody>
      </p:sp>
      <p:grpSp>
        <p:nvGrpSpPr>
          <p:cNvPr id="11" name="Graphic 38">
            <a:extLst>
              <a:ext uri="{FF2B5EF4-FFF2-40B4-BE49-F238E27FC236}">
                <a16:creationId xmlns:a16="http://schemas.microsoft.com/office/drawing/2014/main" id="{35C37387-FC74-4DFB-841A-B7688148C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437" y="79558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D8A01F-F541-4FE1-9384-7A5B686AE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67F35E-69E0-4628-B498-7058AF51F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D9FE21DE-050D-4E27-A007-AAE4EF842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9" y="3491269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EF10EC-D135-4F55-A642-AFA283DD9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9" y="3491269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4cbb8598-5df3-4295-8750-037eca2ccbd9.png"/>
          <p:cNvPicPr>
            <a:picLocks noChangeAspect="1"/>
          </p:cNvPicPr>
          <p:nvPr/>
        </p:nvPicPr>
        <p:blipFill>
          <a:blip r:embed="rId2"/>
          <a:srcRect r="25623" b="1"/>
          <a:stretch>
            <a:fillRect/>
          </a:stretch>
        </p:blipFill>
        <p:spPr>
          <a:xfrm>
            <a:off x="1144719" y="1554974"/>
            <a:ext cx="2666283" cy="3217333"/>
          </a:xfrm>
          <a:prstGeom prst="rect">
            <a:avLst/>
          </a:prstGeom>
        </p:spPr>
      </p:pic>
      <p:grpSp>
        <p:nvGrpSpPr>
          <p:cNvPr id="19" name="Graphic 4">
            <a:extLst>
              <a:ext uri="{FF2B5EF4-FFF2-40B4-BE49-F238E27FC236}">
                <a16:creationId xmlns:a16="http://schemas.microsoft.com/office/drawing/2014/main" id="{8546F01E-28C6-4D97-ACC0-50485CD54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80291" y="4637983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B0908F7-1F79-4980-843B-7010EE8E8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653996-A332-4C70-839A-B246E0543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9F15CE8-59C3-4EB5-9C7C-4BAAC5F7D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61B38B2-7390-4304-A200-E656AE089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0DCEB4-FD1D-4E15-A000-1A9CB77DA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DCE85A3-7077-4FEE-B140-C20B1A230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4748CC5-5652-4C4F-A5CE-41DA8383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47D79CB-5BE7-49A3-8C81-100690235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449AC0-C0F3-4D2F-9134-78DDFD1B2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7A8DFB0-41C7-4703-BCC0-902265911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1A0CFB7-B9CE-4B04-92B5-FE295DF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344B6F-954A-49BE-B5E9-19A09DC6B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263CDF5-777C-406D-B2B2-0FF351D11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467587" y="1747592"/>
            <a:ext cx="39128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ШІ згенерував HTML‑презентацію на тему автоматизації конфігурації хоста.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Файл було задеплойлено на цей же веб‑хост за допомогою створеного скрипта.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000">
                <a:solidFill>
                  <a:schemeClr val="bg1"/>
                </a:solidFill>
              </a:rPr>
              <a:t>У браузері видно повноцінний сайт зі слайдами, навігацією та стилізованим оформленням.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ctangle 38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694268"/>
            <a:ext cx="2665132" cy="5477932"/>
          </a:xfrm>
        </p:spPr>
        <p:txBody>
          <a:bodyPr>
            <a:normAutofit/>
          </a:bodyPr>
          <a:lstStyle/>
          <a:p>
            <a:r>
              <a:rPr lang="uk-UA" sz="3400">
                <a:solidFill>
                  <a:schemeClr val="bg1"/>
                </a:solidFill>
              </a:rPr>
              <a:t>Використана література</a:t>
            </a:r>
          </a:p>
        </p:txBody>
      </p:sp>
      <p:grpSp>
        <p:nvGrpSpPr>
          <p:cNvPr id="387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9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00" name="Oval 399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130846"/>
            <a:ext cx="3912879" cy="435133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 dirty="0">
                <a:solidFill>
                  <a:schemeClr val="bg1"/>
                </a:solidFill>
              </a:rPr>
              <a:t>1. NGINX Official Documentation - https://nginx.org/en/docs/</a:t>
            </a:r>
          </a:p>
          <a:p>
            <a:pPr>
              <a:defRPr sz="2000"/>
            </a:pPr>
            <a:r>
              <a:rPr lang="en-US" sz="2000" dirty="0">
                <a:solidFill>
                  <a:schemeClr val="bg1"/>
                </a:solidFill>
              </a:rPr>
              <a:t>2. </a:t>
            </a:r>
            <a:r>
              <a:rPr lang="en-US" sz="2000" dirty="0" err="1">
                <a:solidFill>
                  <a:schemeClr val="bg1"/>
                </a:solidFill>
              </a:rPr>
              <a:t>Certbot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>
                <a:solidFill>
                  <a:schemeClr val="bg1"/>
                </a:solidFill>
              </a:rPr>
              <a:t>Documentation - https</a:t>
            </a:r>
            <a:r>
              <a:rPr lang="en-US" sz="2000" dirty="0">
                <a:solidFill>
                  <a:schemeClr val="bg1"/>
                </a:solidFill>
              </a:rPr>
              <a:t>://certbot.eff.org</a:t>
            </a:r>
          </a:p>
          <a:p>
            <a:pPr>
              <a:defRPr sz="2000"/>
            </a:pPr>
            <a:r>
              <a:rPr lang="en-US" sz="2000" dirty="0">
                <a:solidFill>
                  <a:schemeClr val="bg1"/>
                </a:solidFill>
              </a:rPr>
              <a:t>3. </a:t>
            </a:r>
            <a:r>
              <a:rPr lang="en-US" sz="2000" dirty="0" err="1">
                <a:solidFill>
                  <a:schemeClr val="bg1"/>
                </a:solidFill>
              </a:rPr>
              <a:t>DigitalOcean</a:t>
            </a:r>
            <a:r>
              <a:rPr lang="en-US" sz="2000" dirty="0">
                <a:solidFill>
                  <a:schemeClr val="bg1"/>
                </a:solidFill>
              </a:rPr>
              <a:t> Community Tutorials: "</a:t>
            </a:r>
            <a:r>
              <a:rPr lang="en-US" sz="2000" dirty="0">
                <a:solidFill>
                  <a:schemeClr val="bg1"/>
                </a:solidFill>
                <a:hlinkClick r:id="rId2"/>
              </a:rPr>
              <a:t>How To Secure Nginx with Let's Encrypt on Ubuntu</a:t>
            </a:r>
            <a:r>
              <a:rPr lang="en-US" sz="2000" dirty="0">
                <a:solidFill>
                  <a:schemeClr val="bg1"/>
                </a:solidFill>
              </a:rPr>
              <a:t>".</a:t>
            </a:r>
          </a:p>
          <a:p>
            <a:pPr>
              <a:defRPr sz="2000"/>
            </a:pPr>
            <a:r>
              <a:rPr lang="en-US" sz="2000" dirty="0">
                <a:solidFill>
                  <a:schemeClr val="bg1"/>
                </a:solidFill>
              </a:rPr>
              <a:t>4. Humble J., Farley D. Continuous Delivery: 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Reliable Software Releases through Build, Test, and Deployment Automation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uk-UA">
                <a:solidFill>
                  <a:schemeClr val="bg1"/>
                </a:solidFill>
              </a:rPr>
              <a:t>Дякую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uk-UA">
                <a:solidFill>
                  <a:schemeClr val="bg1"/>
                </a:solidFill>
              </a:rPr>
              <a:t>за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uk-UA">
                <a:solidFill>
                  <a:schemeClr val="bg1"/>
                </a:solidFill>
              </a:rPr>
              <a:t>увагу</a:t>
            </a:r>
            <a:r>
              <a:rPr dirty="0">
                <a:solidFill>
                  <a:schemeClr val="bg1"/>
                </a:solidFill>
              </a:rPr>
              <a:t>!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ru-RU" sz="2400" dirty="0">
                <a:solidFill>
                  <a:schemeClr val="bg1"/>
                </a:solidFill>
              </a:rPr>
              <a:t>Приклад реалізації: на </a:t>
            </a:r>
            <a:r>
              <a:rPr lang="ru-RU" sz="2400" dirty="0">
                <a:solidFill>
                  <a:schemeClr val="bg1"/>
                </a:solidFill>
                <a:hlinkClick r:id="rId2"/>
              </a:rPr>
              <a:t>https://ind.classuni.store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>
              <a:buNone/>
              <a:defRPr sz="2400"/>
            </a:pPr>
            <a:r>
              <a:rPr lang="ru-RU" sz="2400" dirty="0">
                <a:solidFill>
                  <a:schemeClr val="bg1"/>
                </a:solidFill>
              </a:rPr>
              <a:t>Хост не постійний тому сайт доступний лише під час роботи ноутбука в домашній мережі.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499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Допомога ШІ в автоматизації конфігурації веб хоста</vt:lpstr>
      <vt:lpstr>Мета автоматизації конфігурації веб хоста</vt:lpstr>
      <vt:lpstr>Розбір промпта для ШІ</vt:lpstr>
      <vt:lpstr>Створення DNS‑запису в Namecheap</vt:lpstr>
      <vt:lpstr>Запуск скрипта та аналіз виводу</vt:lpstr>
      <vt:lpstr>Допомога ШІ у вирішенні помилок</vt:lpstr>
      <vt:lpstr>Результуюча сторінка у браузері</vt:lpstr>
      <vt:lpstr>Демонстрація веб‑сайту‑презентації від ШІ</vt:lpstr>
      <vt:lpstr>Використана література</vt:lpstr>
      <vt:lpstr>Дякую за увагу!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Молодченко Дмитро Вікторович</cp:lastModifiedBy>
  <cp:revision>11</cp:revision>
  <dcterms:created xsi:type="dcterms:W3CDTF">2013-01-27T09:14:16Z</dcterms:created>
  <dcterms:modified xsi:type="dcterms:W3CDTF">2025-12-11T17:33:24Z</dcterms:modified>
  <cp:category/>
</cp:coreProperties>
</file>